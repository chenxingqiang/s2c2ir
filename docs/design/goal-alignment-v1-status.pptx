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EB6FF"/>
                </a:solidFill>
                <a:latin typeface="Microsoft YaHei"/>
              </a:rPr>
              <a:t>现状  ·  与仓库对齐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66928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4F7FB"/>
                </a:solidFill>
                <a:latin typeface="Microsoft YaHei"/>
              </a:rPr>
              <a:t>研究方向一致，这一刀的交付更窄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115568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A8B3C7"/>
                </a:solidFill>
                <a:latin typeface="Microsoft YaHei"/>
              </a:rPr>
              <a:t>Storage × Compute × Communication × Execution    统一组合语义，多个 realization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691640"/>
            <a:ext cx="5532120" cy="4160520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691640"/>
            <a:ext cx="5532120" cy="4160520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691640"/>
            <a:ext cx="5532120" cy="73152"/>
          </a:xfrm>
          <a:prstGeom prst="rect">
            <a:avLst/>
          </a:prstGeom>
          <a:solidFill>
            <a:srgbClr val="7E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691640"/>
            <a:ext cx="5532120" cy="73152"/>
          </a:xfrm>
          <a:prstGeom prst="rect">
            <a:avLst/>
          </a:prstGeom>
          <a:solidFill>
            <a:srgbClr val="E7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01952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EB6FF"/>
                </a:solidFill>
                <a:latin typeface="Microsoft YaHei"/>
              </a:rPr>
              <a:t>这一刀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31720"/>
            <a:ext cx="5120640" cy="3291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7FB"/>
                </a:solidFill>
                <a:latin typeface="Microsoft YaHei"/>
              </a:rPr>
              <a:t>stor.object / materialize / transfer / alloc / dealloc / pack / unpack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7FB"/>
                </a:solidFill>
                <a:latin typeface="Microsoft YaHei"/>
              </a:rPr>
              <a:t>comp.matmul · elemwise · gated_mlp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7FB"/>
                </a:solidFill>
                <a:latin typeface="Microsoft YaHei"/>
              </a:rPr>
              <a:t>comm.copy · stream · barrier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7FB"/>
                </a:solidFill>
                <a:latin typeface="Microsoft YaHei"/>
              </a:rPr>
              <a:t>sched.task · concurrent · overlap · pipeline · stage · wait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7FB"/>
                </a:solidFill>
                <a:latin typeface="Microsoft YaHei"/>
              </a:rPr>
              <a:t>一台设备，一块连续区域，容量 2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7FB"/>
                </a:solidFill>
                <a:latin typeface="Microsoft YaHei"/>
              </a:rPr>
              <a:t>KEEP → EVICT → TRANSFER → RESTORE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7FB"/>
                </a:solidFill>
                <a:latin typeface="Microsoft YaHei"/>
              </a:rPr>
              <a:t>can-run-plan = no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7FB"/>
                </a:solidFill>
                <a:latin typeface="Microsoft YaHei"/>
              </a:rPr>
              <a:t>carrier 文本  ≠  s2c2-opt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7FB"/>
                </a:solidFill>
                <a:latin typeface="Microsoft YaHei"/>
              </a:rPr>
              <a:t>baseline 36fd6fd     next_cut = NOT OPENED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1901952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7C27A"/>
                </a:solidFill>
                <a:latin typeface="Microsoft YaHei"/>
              </a:rPr>
              <a:t>不是这一刀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2331720"/>
            <a:ext cx="5120640" cy="3291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7FB"/>
                </a:solidFill>
                <a:latin typeface="Microsoft YaHei"/>
              </a:rPr>
              <a:t>Token Path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7FB"/>
                </a:solidFill>
                <a:latin typeface="Microsoft YaHei"/>
              </a:rPr>
              <a:t>MoE dispatch / all-to-all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7FB"/>
                </a:solidFill>
                <a:latin typeface="Microsoft YaHei"/>
              </a:rPr>
              <a:t>集群拓扑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7FB"/>
                </a:solidFill>
                <a:latin typeface="Microsoft YaHei"/>
              </a:rPr>
              <a:t>attention / CIM MVM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7FB"/>
                </a:solidFill>
                <a:latin typeface="Microsoft YaHei"/>
              </a:rPr>
              <a:t>这些是研究示意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7FB"/>
                </a:solidFill>
                <a:latin typeface="Microsoft YaHei"/>
              </a:rPr>
              <a:t>不是 dialect op，也不是 inhabitant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7FB"/>
                </a:solidFill>
                <a:latin typeface="Microsoft YaHei"/>
              </a:rPr>
              <a:t>不据此打开新合同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603504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8AB"/>
                </a:solidFill>
                <a:latin typeface="Microsoft YaHei"/>
              </a:rPr>
              <a:t>语义基线不因本页改变。对照页：docs/design/goal-alignment-v1.md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